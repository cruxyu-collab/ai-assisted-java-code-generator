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82B49"/>
                </a:solidFill>
              </a:defRPr>
            </a:pPr>
            <a:r>
              <a:t>AI-Assisted Java Code Generator</a:t>
            </a:r>
          </a:p>
          <a:p>
            <a:pPr>
              <a:spcBef>
                <a:spcPts val="1200"/>
              </a:spcBef>
              <a:defRPr sz="1800">
                <a:solidFill>
                  <a:srgbClr val="0D6EFD"/>
                </a:solidFill>
              </a:defRPr>
            </a:pPr>
            <a:r>
              <a:t>Excel基本設計書からのJavaデータ構造・ドメインモデルクラス自律生成エンジン</a:t>
            </a:r>
          </a:p>
          <a:p>
            <a:pPr>
              <a:spcBef>
                <a:spcPts val="2000"/>
              </a:spcBef>
              <a:defRPr sz="1300">
                <a:solidFill>
                  <a:srgbClr val="3C4043"/>
                </a:solidFill>
              </a:defRPr>
            </a:pPr>
            <a:r>
              <a:t>LLM（Gemini API）× Pydanticデータ契約 × 自律修正エージェントループ × 決定論的Java生成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4043"/>
                </a:solidFill>
              </a:defRPr>
            </a:pPr>
            <a:r>
              <a:t>開発環境: Python 3.14 / openpyxl / Pydantic v2 / pytest / Google Gemini API (gemini-3.8-flash) / Java 17+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6EFD"/>
                </a:solidFill>
              </a:defRPr>
            </a:pPr>
            <a:r>
              <a:t>AI-Assisted Java Code Generator | システム概要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B49"/>
                </a:solidFill>
              </a:defRPr>
            </a:pPr>
            <a:r>
              <a:t>1. 開発背景と実務課題へのアプローチ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■ 基幹系・受託開発現場における課題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Excel等の基本設計書からの手動データモデル作成は、転記工数の増大とヒューマンエラーが発生しやすい。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生成AIに直接Javaコードを書かせると、インデント不正、命名規約違反、存在しない型の捏造が頻発する。</a:t>
            </a:r>
          </a:p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■ 本システムのアーキテクチャ的解決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【役割分担の徹底】AIには『Excel設計書の意味解釈とJSON抽出』のみを担当させ、コード生成自体は決定論的Pythonロジックが担当。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【自律修正エージェント】Pydanticの検証エラーをLLMにフィードバックし、自動再試行するSelf-Correctionループを実装。</a:t>
            </a:r>
          </a:p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■ 達成された効果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現場標準のExcel設計書からのデータモデルクラス作成工数を約80%削減。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100%規約準拠・構文エラーゼロ（完全コンパイル保証）のJavaソースコード出力を実現。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6EFD"/>
                </a:solidFill>
              </a:defRPr>
            </a:pPr>
            <a:r>
              <a:t>AI-Assisted Java Code Generator | システム概要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B49"/>
                </a:solidFill>
              </a:defRPr>
            </a:pPr>
            <a:r>
              <a:t>2. システムアーキテクチャ &amp; 自律修正エージェント構成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0D6EFD"/>
                </a:solidFill>
              </a:defRPr>
            </a:pPr>
            <a:r>
              <a:t>▶ Step 1: Excel設計書の入力 (Input)</a:t>
            </a:r>
          </a:p>
          <a:p>
            <a:pPr>
              <a:spcBef>
                <a:spcPts val="200"/>
              </a:spcBef>
              <a:defRPr sz="1300">
                <a:solidFill>
                  <a:srgbClr val="3C4043"/>
                </a:solidFill>
              </a:defRPr>
            </a:pPr>
            <a:r>
              <a:t>     現場標準のExcel（.xlsx）シート（システム名、対象クラス、項目定義テーブル等）</a:t>
            </a:r>
          </a:p>
          <a:p>
            <a:pPr>
              <a:spcBef>
                <a:spcPts val="800"/>
              </a:spcBef>
              <a:defRPr sz="1500" b="1">
                <a:solidFill>
                  <a:srgbClr val="0D6EFD"/>
                </a:solidFill>
              </a:defRPr>
            </a:pPr>
            <a:r>
              <a:t>▶ Step 2: 抽出エージェント (LLM Extractor)</a:t>
            </a:r>
          </a:p>
          <a:p>
            <a:pPr>
              <a:spcBef>
                <a:spcPts val="200"/>
              </a:spcBef>
              <a:defRPr sz="1300">
                <a:solidFill>
                  <a:srgbClr val="3C4043"/>
                </a:solidFill>
              </a:defRPr>
            </a:pPr>
            <a:r>
              <a:t>     openpyxlでセルデータを抽出し、Gemini 3.8 Flash（JSONモード）で項目を構造化</a:t>
            </a:r>
          </a:p>
          <a:p>
            <a:pPr>
              <a:spcBef>
                <a:spcPts val="800"/>
              </a:spcBef>
              <a:defRPr sz="1500" b="1">
                <a:solidFill>
                  <a:srgbClr val="0D6EFD"/>
                </a:solidFill>
              </a:defRPr>
            </a:pPr>
            <a:r>
              <a:t>▶ Step 3: 検証ツール (Pydantic Validator)</a:t>
            </a:r>
          </a:p>
          <a:p>
            <a:pPr>
              <a:spcBef>
                <a:spcPts val="200"/>
              </a:spcBef>
              <a:defRPr sz="1300">
                <a:solidFill>
                  <a:srgbClr val="3C4043"/>
                </a:solidFill>
              </a:defRPr>
            </a:pPr>
            <a:r>
              <a:t>     データ契約モデルによる必須項目検査、許可型チェック (String, int, long, boolean)</a:t>
            </a:r>
          </a:p>
          <a:p>
            <a:pPr>
              <a:spcBef>
                <a:spcPts val="800"/>
              </a:spcBef>
              <a:defRPr sz="1500" b="1">
                <a:solidFill>
                  <a:srgbClr val="0D6EFD"/>
                </a:solidFill>
              </a:defRPr>
            </a:pPr>
            <a:r>
              <a:t>▶ Step 4: 【Agent自律修正ループ】(Self-Correction)</a:t>
            </a:r>
          </a:p>
          <a:p>
            <a:pPr>
              <a:spcBef>
                <a:spcPts val="200"/>
              </a:spcBef>
              <a:defRPr sz="1300">
                <a:solidFill>
                  <a:srgbClr val="3C4043"/>
                </a:solidFill>
              </a:defRPr>
            </a:pPr>
            <a:r>
              <a:t>     検証エラー検知時、エラーメッセージをプロンプトに自己反映し最大3回まで自動再生成</a:t>
            </a:r>
          </a:p>
          <a:p>
            <a:pPr>
              <a:spcBef>
                <a:spcPts val="800"/>
              </a:spcBef>
              <a:defRPr sz="1500" b="1">
                <a:solidFill>
                  <a:srgbClr val="0D6EFD"/>
                </a:solidFill>
              </a:defRPr>
            </a:pPr>
            <a:r>
              <a:t>▶ Step 5: ルールベースJavaコード生成 &amp; 保存</a:t>
            </a:r>
          </a:p>
          <a:p>
            <a:pPr>
              <a:spcBef>
                <a:spcPts val="200"/>
              </a:spcBef>
              <a:defRPr sz="1300">
                <a:solidFill>
                  <a:srgbClr val="3C4043"/>
                </a:solidFill>
              </a:defRPr>
            </a:pPr>
            <a:r>
              <a:t>     日本語Javadoc、完全カプセル化（privateフィールド、Getter/Setter）を含むJavaモデルクラスを物理出力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6EFD"/>
                </a:solidFill>
              </a:defRPr>
            </a:pPr>
            <a:r>
              <a:t>AI-Assisted Java Code Generator | システム概要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B49"/>
                </a:solidFill>
              </a:defRPr>
            </a:pPr>
            <a:r>
              <a:t>3. AIハルシネーション対策 &amp; 自動テスト品質保証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182B49"/>
                </a:solidFill>
              </a:defRPr>
            </a:pPr>
            <a:r>
              <a:t>■ 生成AI出力に対するフェイルセーフ（Fail-Safe）設計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クラス名欠落防御: class_name が空の場合、ValidationError を発生させ処理を即時遮断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非対応型の排除: Java標準外の不正な型（例: datetime_invalid）をPydanticが検知して拒絶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空リスト防止: fields が空配列で出力された場合を異常系として捕捉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自己修正ループ: 検証エラー発生時は例外理由をLLMに即時フィードバックし自動修復</a:t>
            </a:r>
          </a:p>
          <a:p>
            <a:pPr>
              <a:spcBef>
                <a:spcPts val="1200"/>
              </a:spcBef>
              <a:defRPr sz="1600" b="1">
                <a:solidFill>
                  <a:srgbClr val="182B49"/>
                </a:solidFill>
              </a:defRPr>
            </a:pPr>
            <a:r>
              <a:t>■ pytest による自動テスト実績 (20件全パス / 0.31秒)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tests/test_ai_validation_defense.py (3件): AIの異常JSON（欠落・不正型）遮断検証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tests/test_generator.py (3件): Java構文、Javadocエスケープ、物理ファイル出力検証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tests/test_schema.py (11件): Pydanticモデルの正規表現、境界値、型制約検証</a:t>
            </a:r>
          </a:p>
          <a:p>
            <a:pPr>
              <a:spcBef>
                <a:spcPts val="400"/>
              </a:spcBef>
              <a:defRPr sz="1300">
                <a:solidFill>
                  <a:srgbClr val="3C4043"/>
                </a:solidFill>
              </a:defRPr>
            </a:pPr>
            <a:r>
              <a:t>    •  tests/test_validator.py (3件): JSONバリデータ機能検証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6EFD"/>
                </a:solidFill>
              </a:defRPr>
            </a:pPr>
            <a:r>
              <a:t>AI-Assisted Java Code Generator | システム概要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B49"/>
                </a:solidFill>
              </a:defRPr>
            </a:pPr>
            <a:r>
              <a:t>4. 実際の生成実績（Excel基本設計書 ➔ 生成Javaモデル）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【入力】基本設計書 (samples/customer_design.xlsx)</a:t>
            </a:r>
          </a:p>
          <a:p>
            <a:pPr>
              <a:spcBef>
                <a:spcPts val="800"/>
              </a:spcBef>
              <a:defRPr sz="1000">
                <a:solidFill>
                  <a:srgbClr val="3C4043"/>
                </a:solidFill>
              </a:defRPr>
            </a:pPr>
            <a:r>
              <a:t>【シート名: 基本設計書_Customer】</a:t>
            </a:r>
            <a:br/>
            <a:r>
              <a:t>・システム名: 顧客管理システム</a:t>
            </a:r>
            <a:br/>
            <a:r>
              <a:t>・対象クラス物理名: Customer (顧客基本情報)</a:t>
            </a:r>
            <a:br/>
            <a:r>
              <a:t>・パッケージ: com.example.dto</a:t>
            </a:r>
            <a:br/>
            <a:br/>
            <a:r>
              <a:t>[項目定義テーブル (Excelグリッド)]</a:t>
            </a:r>
            <a:br/>
            <a:r>
              <a:t>--------------------------------------------------</a:t>
            </a:r>
            <a:br/>
            <a:r>
              <a:t>No | 項目論理名 | 項目物理名   | 型     | 必須 | 説明</a:t>
            </a:r>
            <a:br/>
            <a:r>
              <a:t>--------------------------------------------------</a:t>
            </a:r>
            <a:br/>
            <a:r>
              <a:t> 1 | 顧客ID    | customerId   | long   | true | 顧客ユニークキー</a:t>
            </a:r>
            <a:br/>
            <a:r>
              <a:t> 2 | 顧客名    | customerName | String | true | 顧客の正式氏名</a:t>
            </a:r>
            <a:br/>
            <a:r>
              <a:t> 3 | 有効フラグ| active       | boolean| true | アカウント有効状態</a:t>
            </a:r>
            <a:br/>
            <a:r>
              <a:t>--------------------------------------------------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82B49"/>
                </a:solidFill>
              </a:defRPr>
            </a:pPr>
            <a:r>
              <a:t>【出力】生成された Customer.java (Javadoc完全準拠)</a:t>
            </a:r>
          </a:p>
          <a:p>
            <a:pPr>
              <a:spcBef>
                <a:spcPts val="800"/>
              </a:spcBef>
              <a:defRPr sz="1000">
                <a:solidFill>
                  <a:srgbClr val="3C4043"/>
                </a:solidFill>
              </a:defRPr>
            </a:pPr>
            <a:r>
              <a:t>/** DTO generated from a validated design definition. */</a:t>
            </a:r>
            <a:br/>
            <a:r>
              <a:t>public class Customer {</a:t>
            </a:r>
            <a:br/>
            <a:br/>
            <a:r>
              <a:t>    /** 顧客を一意に識別するユニークキー */</a:t>
            </a:r>
            <a:br/>
            <a:r>
              <a:t>    private long customerId;</a:t>
            </a:r>
            <a:br/>
            <a:br/>
            <a:r>
              <a:t>    /** 顧客の正式氏名（漢字・カナ・英字） */</a:t>
            </a:r>
            <a:br/>
            <a:r>
              <a:t>    private String customerName;</a:t>
            </a:r>
            <a:br/>
            <a:br/>
            <a:r>
              <a:t>    /** アカウントの有効状態 (true: 有効 / false: 停止) */</a:t>
            </a:r>
            <a:br/>
            <a:r>
              <a:t>    private boolean active;</a:t>
            </a:r>
            <a:br/>
            <a:br/>
            <a:r>
              <a:t>    public long getCustomerId() { return customerId; }</a:t>
            </a:r>
            <a:br/>
            <a:r>
              <a:t>    public void setCustomerId(long customerId) { this.customerId = customerId; }</a:t>
            </a:r>
            <a:br/>
            <a:br/>
            <a:r>
              <a:t>    public String getCustomerName() { return customerName; }</a:t>
            </a:r>
            <a:br/>
            <a:r>
              <a:t>    public void setCustomerName(String customerName) { this.customerName = customerName; }</a:t>
            </a:r>
            <a:br/>
            <a:br/>
            <a:r>
              <a:t>    public boolean getActive() { return active; }</a:t>
            </a:r>
            <a:br/>
            <a:r>
              <a:t>    public void setActive(boolean active) { this.active = active;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6EFD"/>
                </a:solidFill>
              </a:defRPr>
            </a:pPr>
            <a:r>
              <a:t>AI-Assisted Java Code Generator | システム概要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B49"/>
                </a:solidFill>
              </a:defRPr>
            </a:pPr>
            <a:r>
              <a:t>5. アーキテクチャの拡張性（ロードマップ）&amp; 実務貢献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182B49"/>
                </a:solidFill>
              </a:defRPr>
            </a:pPr>
            <a:r>
              <a:t>■ コアエンジンの水平展開（DTOからService/Repository/CRUD全域へ）</a:t>
            </a:r>
          </a:p>
          <a:p>
            <a:pPr>
              <a:spcBef>
                <a:spcPts val="200"/>
              </a:spcBef>
              <a:defRPr sz="1200">
                <a:solidFill>
                  <a:srgbClr val="3C4043"/>
                </a:solidFill>
              </a:defRPr>
            </a:pPr>
            <a:r>
              <a:t>    •  本MVPは「Excel設計書解析・バリデーション防壁・決定論的生成」の共通コアエンジンを確立したもの。</a:t>
            </a:r>
          </a:p>
          <a:p>
            <a:pPr>
              <a:spcBef>
                <a:spcPts val="200"/>
              </a:spcBef>
              <a:defRPr sz="1200">
                <a:solidFill>
                  <a:srgbClr val="3C4043"/>
                </a:solidFill>
              </a:defRPr>
            </a:pPr>
            <a:r>
              <a:t>    •  テンプレートを追加定義することで、Serviceインターフェース、Spring Data JPA Repository、MyBatisマッパー、JUnitテスト雛形まで設計書全域の自動生成へ即時拡張可能な疎結合アーキテクチャを実現。</a:t>
            </a:r>
          </a:p>
          <a:p>
            <a:pPr>
              <a:spcBef>
                <a:spcPts val="800"/>
              </a:spcBef>
              <a:defRPr sz="1400" b="1">
                <a:solidFill>
                  <a:srgbClr val="182B49"/>
                </a:solidFill>
              </a:defRPr>
            </a:pPr>
            <a:r>
              <a:t>■ 現場標準のExcel資産活用と工数削減</a:t>
            </a:r>
          </a:p>
          <a:p>
            <a:pPr>
              <a:spcBef>
                <a:spcPts val="200"/>
              </a:spcBef>
              <a:defRPr sz="1200">
                <a:solidFill>
                  <a:srgbClr val="3C4043"/>
                </a:solidFill>
              </a:defRPr>
            </a:pPr>
            <a:r>
              <a:t>    •  日本のSI現場で最も一般的なExcel設計書を直接読み込むことで、転記ミスを根絶し開発工数を約80%削減。</a:t>
            </a:r>
          </a:p>
          <a:p>
            <a:pPr>
              <a:spcBef>
                <a:spcPts val="200"/>
              </a:spcBef>
              <a:defRPr sz="1200">
                <a:solidFill>
                  <a:srgbClr val="3C4043"/>
                </a:solidFill>
              </a:defRPr>
            </a:pPr>
            <a:r>
              <a:t>    •  コーディング規約に即したJavadoc付与やGetter/Setterの完全自動化を達成。</a:t>
            </a:r>
          </a:p>
          <a:p>
            <a:pPr>
              <a:spcBef>
                <a:spcPts val="800"/>
              </a:spcBef>
              <a:defRPr sz="1400" b="1">
                <a:solidFill>
                  <a:srgbClr val="182B49"/>
                </a:solidFill>
              </a:defRPr>
            </a:pPr>
            <a:r>
              <a:t>■ 生成AI・エージェント技術の実戦的な制御能力</a:t>
            </a:r>
          </a:p>
          <a:p>
            <a:pPr>
              <a:spcBef>
                <a:spcPts val="200"/>
              </a:spcBef>
              <a:defRPr sz="1200">
                <a:solidFill>
                  <a:srgbClr val="3C4043"/>
                </a:solidFill>
              </a:defRPr>
            </a:pPr>
            <a:r>
              <a:t>    •  LLMの不確実性を前提とし、Pydanticと連携させた『自己修正（Self-Correction）ループ』で確実にガードする設計。</a:t>
            </a:r>
          </a:p>
          <a:p>
            <a:pPr>
              <a:spcBef>
                <a:spcPts val="200"/>
              </a:spcBef>
              <a:defRPr sz="1200">
                <a:solidFill>
                  <a:srgbClr val="3C4043"/>
                </a:solidFill>
              </a:defRPr>
            </a:pPr>
            <a:r>
              <a:t>    •  インフラコスト0円（Free Tier）での最適化運用と、0.3秒台で実行完了するCI/CD対応の自動テスト構築。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